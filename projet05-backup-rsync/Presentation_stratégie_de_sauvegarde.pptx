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81" r:id="rId3"/>
    <p:sldId id="282" r:id="rId4"/>
    <p:sldId id="283" r:id="rId5"/>
    <p:sldId id="284" r:id="rId6"/>
    <p:sldId id="285" r:id="rId7"/>
    <p:sldId id="279" r:id="rId8"/>
    <p:sldId id="286" r:id="rId9"/>
  </p:sldIdLst>
  <p:sldSz cx="12192000" cy="6858000"/>
  <p:notesSz cx="6858000" cy="9144000"/>
  <p:embeddedFontLst>
    <p:embeddedFont>
      <p:font typeface="Gill Sans" panose="020B0604020202020204" charset="0"/>
      <p:regular r:id="rId11"/>
      <p:bold r:id="rId12"/>
    </p:embeddedFont>
    <p:embeddedFont>
      <p:font typeface="Verdana" panose="020B0604030504040204" pitchFamily="3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hHXhl4vOdC2Ae92Uoc3LXvfd4Ch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DCC6616-E1B8-4DAE-94FC-05E1BC26A7A1}">
  <a:tblStyle styleId="{0DCC6616-E1B8-4DAE-94FC-05E1BC26A7A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55211D4C-8F66-46FF-9DED-DCC085DDDDF3}" styleName="Table_1">
    <a:wholeTbl>
      <a:tcTxStyle b="off" i="off">
        <a:font>
          <a:latin typeface="Gill Sans MT"/>
          <a:ea typeface="Gill Sans MT"/>
          <a:cs typeface="Gill Sans MT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7E7E9"/>
          </a:solidFill>
        </a:fill>
      </a:tcStyle>
    </a:wholeTbl>
    <a:band1H>
      <a:tcTxStyle b="off" i="off"/>
      <a:tcStyle>
        <a:tcBdr/>
        <a:fill>
          <a:solidFill>
            <a:srgbClr val="CBCCD1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CBCCD1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Gill Sans MT"/>
          <a:ea typeface="Gill Sans MT"/>
          <a:cs typeface="Gill Sans MT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DCF3E65F-3DE1-4CD7-AE27-80038AF30189}" styleName="Table_2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18331618-183A-47CA-986D-8093A85ECF18}" styleName="Table_3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5033" autoAdjust="0"/>
  </p:normalViewPr>
  <p:slideViewPr>
    <p:cSldViewPr snapToGrid="0">
      <p:cViewPr varScale="1">
        <p:scale>
          <a:sx n="70" d="100"/>
          <a:sy n="70" d="100"/>
        </p:scale>
        <p:origin x="113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3" Type="http://schemas.openxmlformats.org/officeDocument/2006/relationships/slide" Target="slides/slide2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36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-F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‹N°›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8" name="Google Shape;98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lucas</a:t>
            </a:r>
            <a:endParaRPr dirty="0"/>
          </a:p>
        </p:txBody>
      </p:sp>
      <p:sp>
        <p:nvSpPr>
          <p:cNvPr id="99" name="Google Shape;9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>
          <a:extLst>
            <a:ext uri="{FF2B5EF4-FFF2-40B4-BE49-F238E27FC236}">
              <a16:creationId xmlns:a16="http://schemas.microsoft.com/office/drawing/2014/main" id="{15C9EA25-5174-BEC5-BF10-695E6B0842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6:notes">
            <a:extLst>
              <a:ext uri="{FF2B5EF4-FFF2-40B4-BE49-F238E27FC236}">
                <a16:creationId xmlns:a16="http://schemas.microsoft.com/office/drawing/2014/main" id="{E676FF5E-9DD2-5BE2-C146-80DE540B1C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8" name="Google Shape;468;p16:notes">
            <a:extLst>
              <a:ext uri="{FF2B5EF4-FFF2-40B4-BE49-F238E27FC236}">
                <a16:creationId xmlns:a16="http://schemas.microsoft.com/office/drawing/2014/main" id="{C9CA6E25-9406-506E-A7D5-C34679190F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()</a:t>
            </a:r>
            <a:endParaRPr dirty="0"/>
          </a:p>
        </p:txBody>
      </p:sp>
      <p:sp>
        <p:nvSpPr>
          <p:cNvPr id="469" name="Google Shape;469;p16:notes">
            <a:extLst>
              <a:ext uri="{FF2B5EF4-FFF2-40B4-BE49-F238E27FC236}">
                <a16:creationId xmlns:a16="http://schemas.microsoft.com/office/drawing/2014/main" id="{DA102D37-86EF-7353-F74D-2C44EBFA891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707976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>
          <a:extLst>
            <a:ext uri="{FF2B5EF4-FFF2-40B4-BE49-F238E27FC236}">
              <a16:creationId xmlns:a16="http://schemas.microsoft.com/office/drawing/2014/main" id="{57095302-F711-0E0A-4B2E-8694F2288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6:notes">
            <a:extLst>
              <a:ext uri="{FF2B5EF4-FFF2-40B4-BE49-F238E27FC236}">
                <a16:creationId xmlns:a16="http://schemas.microsoft.com/office/drawing/2014/main" id="{AC051CD0-72FB-CB0F-193A-C8CDDB158C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8" name="Google Shape;468;p16:notes">
            <a:extLst>
              <a:ext uri="{FF2B5EF4-FFF2-40B4-BE49-F238E27FC236}">
                <a16:creationId xmlns:a16="http://schemas.microsoft.com/office/drawing/2014/main" id="{33293B69-CC42-1760-D968-88BF0EC314E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()</a:t>
            </a:r>
            <a:endParaRPr dirty="0"/>
          </a:p>
        </p:txBody>
      </p:sp>
      <p:sp>
        <p:nvSpPr>
          <p:cNvPr id="469" name="Google Shape;469;p16:notes">
            <a:extLst>
              <a:ext uri="{FF2B5EF4-FFF2-40B4-BE49-F238E27FC236}">
                <a16:creationId xmlns:a16="http://schemas.microsoft.com/office/drawing/2014/main" id="{B38DC255-FDCD-ECDB-155B-457588C179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3605306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>
          <a:extLst>
            <a:ext uri="{FF2B5EF4-FFF2-40B4-BE49-F238E27FC236}">
              <a16:creationId xmlns:a16="http://schemas.microsoft.com/office/drawing/2014/main" id="{604ED4A7-C244-1564-85A2-FE30A769B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6:notes">
            <a:extLst>
              <a:ext uri="{FF2B5EF4-FFF2-40B4-BE49-F238E27FC236}">
                <a16:creationId xmlns:a16="http://schemas.microsoft.com/office/drawing/2014/main" id="{E9F51757-00E5-BCA5-9B1A-02D4D9DB10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8" name="Google Shape;468;p16:notes">
            <a:extLst>
              <a:ext uri="{FF2B5EF4-FFF2-40B4-BE49-F238E27FC236}">
                <a16:creationId xmlns:a16="http://schemas.microsoft.com/office/drawing/2014/main" id="{69AAF0AE-FF41-32A5-48F7-632D360FF8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()</a:t>
            </a:r>
            <a:endParaRPr dirty="0"/>
          </a:p>
        </p:txBody>
      </p:sp>
      <p:sp>
        <p:nvSpPr>
          <p:cNvPr id="469" name="Google Shape;469;p16:notes">
            <a:extLst>
              <a:ext uri="{FF2B5EF4-FFF2-40B4-BE49-F238E27FC236}">
                <a16:creationId xmlns:a16="http://schemas.microsoft.com/office/drawing/2014/main" id="{406CDCC0-7413-FE6B-0088-DFE4C4F6EC7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334806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>
          <a:extLst>
            <a:ext uri="{FF2B5EF4-FFF2-40B4-BE49-F238E27FC236}">
              <a16:creationId xmlns:a16="http://schemas.microsoft.com/office/drawing/2014/main" id="{C629FECA-8024-1F10-C150-719F5C63F5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6:notes">
            <a:extLst>
              <a:ext uri="{FF2B5EF4-FFF2-40B4-BE49-F238E27FC236}">
                <a16:creationId xmlns:a16="http://schemas.microsoft.com/office/drawing/2014/main" id="{14E7C407-8867-ABAD-51CA-92A9D5461F2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8" name="Google Shape;468;p16:notes">
            <a:extLst>
              <a:ext uri="{FF2B5EF4-FFF2-40B4-BE49-F238E27FC236}">
                <a16:creationId xmlns:a16="http://schemas.microsoft.com/office/drawing/2014/main" id="{B0264419-DFE0-2EDC-2A56-96080565106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()</a:t>
            </a:r>
            <a:endParaRPr dirty="0"/>
          </a:p>
        </p:txBody>
      </p:sp>
      <p:sp>
        <p:nvSpPr>
          <p:cNvPr id="469" name="Google Shape;469;p16:notes">
            <a:extLst>
              <a:ext uri="{FF2B5EF4-FFF2-40B4-BE49-F238E27FC236}">
                <a16:creationId xmlns:a16="http://schemas.microsoft.com/office/drawing/2014/main" id="{7E5E3ED7-88B8-3C92-1D7A-15B9B8CE6F7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178581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fr-FR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lang="fr-FR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462240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8" name="Google Shape;468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dirty="0"/>
              <a:t>()</a:t>
            </a:r>
            <a:endParaRPr dirty="0"/>
          </a:p>
        </p:txBody>
      </p:sp>
      <p:sp>
        <p:nvSpPr>
          <p:cNvPr id="469" name="Google Shape;469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fr-FR"/>
              <a:t>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e de titre" type="title">
  <p:cSld name="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19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9"/>
          <p:cNvSpPr txBox="1"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9"/>
          <p:cNvSpPr txBox="1"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SzPts val="1472"/>
              <a:buNone/>
              <a:defRPr sz="1600" cap="none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104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19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1644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contenu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0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20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20"/>
          <p:cNvSpPr txBox="1">
            <a:spLocks noGrp="1"/>
          </p:cNvSpPr>
          <p:nvPr>
            <p:ph type="body" idx="1"/>
          </p:nvPr>
        </p:nvSpPr>
        <p:spPr>
          <a:xfrm>
            <a:off x="581192" y="2180496"/>
            <a:ext cx="11029615" cy="3678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-tête de section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/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21"/>
          <p:cNvSpPr txBox="1"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Gill Sans"/>
              <a:buNone/>
              <a:defRPr sz="3600" b="0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1"/>
          <p:cNvSpPr txBox="1"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None/>
              <a:defRPr sz="1800" cap="none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21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21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21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ison" type="twoTxTwoObj">
  <p:cSld name="TWO_OBJECTS_WITH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3"/>
          <p:cNvSpPr/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23"/>
          <p:cNvSpPr txBox="1"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3"/>
          <p:cNvSpPr txBox="1"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23"/>
          <p:cNvSpPr txBox="1">
            <a:spLocks noGrp="1"/>
          </p:cNvSpPr>
          <p:nvPr>
            <p:ph type="body" idx="2"/>
          </p:nvPr>
        </p:nvSpPr>
        <p:spPr>
          <a:xfrm>
            <a:off x="581194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2" name="Google Shape;52;p23"/>
          <p:cNvSpPr txBox="1">
            <a:spLocks noGrp="1"/>
          </p:cNvSpPr>
          <p:nvPr>
            <p:ph type="body" idx="3"/>
          </p:nvPr>
        </p:nvSpPr>
        <p:spPr>
          <a:xfrm>
            <a:off x="6523735" y="2250892"/>
            <a:ext cx="5087073" cy="553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SzPts val="2024"/>
              <a:buNone/>
              <a:defRPr sz="2200" b="0">
                <a:solidFill>
                  <a:schemeClr val="accen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84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472"/>
              <a:buNone/>
              <a:defRPr sz="1600" b="1"/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body" idx="4"/>
          </p:nvPr>
        </p:nvSpPr>
        <p:spPr>
          <a:xfrm>
            <a:off x="6217709" y="2926052"/>
            <a:ext cx="5393100" cy="2934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54" name="Google Shape;54;p23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3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uniquement" type="title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24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4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4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  <p:sp>
        <p:nvSpPr>
          <p:cNvPr id="61" name="Google Shape;61;p24"/>
          <p:cNvSpPr/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ide" type="blank">
  <p:cSld name="BLANK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5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5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u avec légende" type="objTx">
  <p:cSld name="OBJECT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6"/>
          <p:cNvSpPr/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26"/>
          <p:cNvSpPr txBox="1"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D58AC"/>
              </a:buClr>
              <a:buSzPts val="2000"/>
              <a:buFont typeface="Gill Sans"/>
              <a:buNone/>
              <a:defRPr sz="2000" b="0"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 txBox="1">
            <a:spLocks noGrp="1"/>
          </p:cNvSpPr>
          <p:nvPr>
            <p:ph type="body" idx="1"/>
          </p:nvPr>
        </p:nvSpPr>
        <p:spPr>
          <a:xfrm>
            <a:off x="447816" y="601200"/>
            <a:ext cx="11292840" cy="42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34544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840"/>
              <a:buChar char="◼"/>
              <a:defRPr sz="2000">
                <a:solidFill>
                  <a:schemeClr val="dk2"/>
                </a:solidFill>
              </a:defRPr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 sz="1800">
                <a:solidFill>
                  <a:schemeClr val="dk2"/>
                </a:solidFill>
              </a:defRPr>
            </a:lvl2pPr>
            <a:lvl3pPr marL="1371600" lvl="2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 sz="1600">
                <a:solidFill>
                  <a:schemeClr val="dk2"/>
                </a:solidFill>
              </a:defRPr>
            </a:lvl3pPr>
            <a:lvl4pPr marL="1828800" lvl="3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4pPr>
            <a:lvl5pPr marL="2286000" lvl="4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5pPr>
            <a:lvl6pPr marL="2743200" lvl="5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6pPr>
            <a:lvl7pPr marL="3200400" lvl="6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7pPr>
            <a:lvl8pPr marL="3657600" lvl="7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8pPr>
            <a:lvl9pPr marL="4114800" lvl="8" indent="-310388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288"/>
              <a:buChar char="◼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26"/>
          <p:cNvSpPr txBox="1">
            <a:spLocks noGrp="1"/>
          </p:cNvSpPr>
          <p:nvPr>
            <p:ph type="body" idx="2"/>
          </p:nvPr>
        </p:nvSpPr>
        <p:spPr>
          <a:xfrm>
            <a:off x="5740823" y="5262296"/>
            <a:ext cx="5869987" cy="689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r">
              <a:lnSpc>
                <a:spcPct val="100000"/>
              </a:lnSpc>
              <a:spcBef>
                <a:spcPts val="220"/>
              </a:spcBef>
              <a:spcAft>
                <a:spcPts val="0"/>
              </a:spcAft>
              <a:buSzPts val="1012"/>
              <a:buNone/>
              <a:defRPr sz="1100"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012"/>
              <a:buNone/>
              <a:defRPr sz="11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2" name="Google Shape;72;p26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6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avec légende" type="picTx">
  <p:cSld name="PICTURE_WITH_CAPTION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7"/>
          <p:cNvSpPr txBox="1"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Gill Sans"/>
              <a:buNone/>
              <a:defRPr sz="2400" b="0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7"/>
          <p:cNvSpPr>
            <a:spLocks noGrp="1"/>
          </p:cNvSpPr>
          <p:nvPr>
            <p:ph type="pic" idx="2"/>
          </p:nvPr>
        </p:nvSpPr>
        <p:spPr>
          <a:xfrm>
            <a:off x="447817" y="599725"/>
            <a:ext cx="11290859" cy="35572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None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472"/>
              <a:buFont typeface="Noto Sans Symbols"/>
              <a:buNone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78" name="Google Shape;78;p27"/>
          <p:cNvSpPr txBox="1">
            <a:spLocks noGrp="1"/>
          </p:cNvSpPr>
          <p:nvPr>
            <p:ph type="body" idx="1"/>
          </p:nvPr>
        </p:nvSpPr>
        <p:spPr>
          <a:xfrm>
            <a:off x="581192" y="5260127"/>
            <a:ext cx="11029617" cy="598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SzPts val="1104"/>
              <a:buNone/>
              <a:defRPr sz="1200"/>
            </a:lvl1pPr>
            <a:lvl2pPr marL="914400" lvl="1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92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828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828"/>
              <a:buNone/>
              <a:defRPr sz="900"/>
            </a:lvl9pPr>
          </a:lstStyle>
          <a:p>
            <a:endParaRPr/>
          </a:p>
        </p:txBody>
      </p:sp>
      <p:sp>
        <p:nvSpPr>
          <p:cNvPr id="79" name="Google Shape;79;p27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27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7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et texte vertical" type="vertTx">
  <p:cSld name="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8"/>
          <p:cNvSpPr/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28"/>
          <p:cNvSpPr txBox="1"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8"/>
          <p:cNvSpPr txBox="1">
            <a:spLocks noGrp="1"/>
          </p:cNvSpPr>
          <p:nvPr>
            <p:ph type="body" idx="1"/>
          </p:nvPr>
        </p:nvSpPr>
        <p:spPr>
          <a:xfrm rot="5400000">
            <a:off x="4334603" y="-1417408"/>
            <a:ext cx="3522794" cy="11029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22072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472"/>
              <a:buChar char="◼"/>
              <a:defRPr/>
            </a:lvl2pPr>
            <a:lvl3pPr marL="1371600" lvl="2" indent="-310388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288"/>
              <a:buChar char="◼"/>
              <a:defRPr/>
            </a:lvl3pPr>
            <a:lvl4pPr marL="1828800" lvl="3" indent="-298703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4pPr>
            <a:lvl5pPr marL="2286000" lvl="4" indent="-298704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104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86" name="Google Shape;86;p28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8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8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re vertical et texte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9"/>
          <p:cNvSpPr/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29"/>
          <p:cNvSpPr txBox="1">
            <a:spLocks noGrp="1"/>
          </p:cNvSpPr>
          <p:nvPr>
            <p:ph type="title"/>
          </p:nvPr>
        </p:nvSpPr>
        <p:spPr>
          <a:xfrm rot="5400000">
            <a:off x="7249746" y="2265181"/>
            <a:ext cx="5183073" cy="20041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29"/>
          <p:cNvSpPr txBox="1">
            <a:spLocks noGrp="1"/>
          </p:cNvSpPr>
          <p:nvPr>
            <p:ph type="body" idx="1"/>
          </p:nvPr>
        </p:nvSpPr>
        <p:spPr>
          <a:xfrm rot="5400000">
            <a:off x="2131526" y="-680877"/>
            <a:ext cx="5183073" cy="7896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33756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656"/>
              <a:buChar char="◼"/>
              <a:defRPr/>
            </a:lvl1pPr>
            <a:lvl2pPr marL="914400" lvl="1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2pPr>
            <a:lvl3pPr marL="1371600" lvl="2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3pPr>
            <a:lvl4pPr marL="1828800" lvl="3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4pPr>
            <a:lvl5pPr marL="2286000" lvl="4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5pPr>
            <a:lvl6pPr marL="2743200" lvl="5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6pPr>
            <a:lvl7pPr marL="3200400" lvl="6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7pPr>
            <a:lvl8pPr marL="3657600" lvl="7" indent="-333756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1656"/>
              <a:buChar char="◼"/>
              <a:defRPr/>
            </a:lvl8pPr>
            <a:lvl9pPr marL="4114800" lvl="8" indent="-333756" algn="l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SzPts val="1656"/>
              <a:buChar char="◼"/>
              <a:defRPr/>
            </a:lvl9pPr>
          </a:lstStyle>
          <a:p>
            <a:endParaRPr/>
          </a:p>
        </p:txBody>
      </p:sp>
      <p:sp>
        <p:nvSpPr>
          <p:cNvPr id="93" name="Google Shape;93;p29"/>
          <p:cNvSpPr txBox="1">
            <a:spLocks noGrp="1"/>
          </p:cNvSpPr>
          <p:nvPr>
            <p:ph type="dt" idx="10"/>
          </p:nvPr>
        </p:nvSpPr>
        <p:spPr>
          <a:xfrm>
            <a:off x="8993673" y="5956137"/>
            <a:ext cx="132814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2D58A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9"/>
          <p:cNvSpPr txBox="1">
            <a:spLocks noGrp="1"/>
          </p:cNvSpPr>
          <p:nvPr>
            <p:ph type="ftr" idx="11"/>
          </p:nvPr>
        </p:nvSpPr>
        <p:spPr>
          <a:xfrm>
            <a:off x="774923" y="5951811"/>
            <a:ext cx="7896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9"/>
          <p:cNvSpPr txBox="1">
            <a:spLocks noGrp="1"/>
          </p:cNvSpPr>
          <p:nvPr>
            <p:ph type="sldNum" idx="12"/>
          </p:nvPr>
        </p:nvSpPr>
        <p:spPr>
          <a:xfrm>
            <a:off x="10446615" y="5956137"/>
            <a:ext cx="116419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rgbClr val="2D58AC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  <a:defRPr sz="2800" b="0" i="0" u="none" strike="noStrike" cap="none">
                <a:solidFill>
                  <a:schemeClr val="lt1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8"/>
          <p:cNvSpPr txBox="1"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22072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472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10388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288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29870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298704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298703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298703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104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2" name="Google Shape;12;p18"/>
          <p:cNvSpPr txBox="1">
            <a:spLocks noGrp="1"/>
          </p:cNvSpPr>
          <p:nvPr>
            <p:ph type="dt" idx="10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3" name="Google Shape;13;p18"/>
          <p:cNvSpPr txBox="1">
            <a:spLocks noGrp="1"/>
          </p:cNvSpPr>
          <p:nvPr>
            <p:ph type="ftr" idx="11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endParaRPr/>
          </a:p>
        </p:txBody>
      </p:sp>
      <p:sp>
        <p:nvSpPr>
          <p:cNvPr id="14" name="Google Shape;14;p18"/>
          <p:cNvSpPr txBox="1">
            <a:spLocks noGrp="1"/>
          </p:cNvSpPr>
          <p:nvPr>
            <p:ph type="sldNum" idx="12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sz="900" b="0" i="0" u="none" strike="noStrike" cap="none">
                <a:solidFill>
                  <a:schemeClr val="accent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/>
              <a:t>‹N°›</a:t>
            </a:fld>
            <a:endParaRPr/>
          </a:p>
        </p:txBody>
      </p:sp>
      <p:sp>
        <p:nvSpPr>
          <p:cNvPr id="15" name="Google Shape;15;p1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18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8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chemeClr val="lt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id="102" name="Google Shape;102;p1" descr="Connexions numériques"/>
          <p:cNvPicPr preferRelativeResize="0"/>
          <p:nvPr/>
        </p:nvPicPr>
        <p:blipFill rotWithShape="1">
          <a:blip r:embed="rId3">
            <a:alphaModFix/>
          </a:blip>
          <a:srcRect l="13265" t="9089" r="3502"/>
          <a:stretch/>
        </p:blipFill>
        <p:spPr>
          <a:xfrm>
            <a:off x="-18025" y="-5847"/>
            <a:ext cx="12191982" cy="685799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3" name="Google Shape;103;p1"/>
          <p:cNvGrpSpPr/>
          <p:nvPr/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04" name="Google Shape;104;p1"/>
            <p:cNvSpPr/>
            <p:nvPr/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" name="Google Shape;105;p1"/>
            <p:cNvSpPr/>
            <p:nvPr/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" name="Google Shape;106;p1"/>
            <p:cNvSpPr/>
            <p:nvPr/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7" name="Google Shape;107;p1"/>
          <p:cNvSpPr/>
          <p:nvPr/>
        </p:nvSpPr>
        <p:spPr>
          <a:xfrm>
            <a:off x="484800" y="4438303"/>
            <a:ext cx="11260667" cy="1962497"/>
          </a:xfrm>
          <a:prstGeom prst="rect">
            <a:avLst/>
          </a:prstGeom>
          <a:solidFill>
            <a:schemeClr val="accent1">
              <a:alpha val="9647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"/>
          <p:cNvSpPr txBox="1">
            <a:spLocks noGrp="1"/>
          </p:cNvSpPr>
          <p:nvPr>
            <p:ph type="ctrTitle"/>
          </p:nvPr>
        </p:nvSpPr>
        <p:spPr>
          <a:xfrm>
            <a:off x="581191" y="4893542"/>
            <a:ext cx="10993549" cy="895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Gill Sans"/>
              <a:buNone/>
            </a:pPr>
            <a:r>
              <a:rPr lang="fr-FR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PRÉSENTATION</a:t>
            </a:r>
            <a:r>
              <a:rPr lang="fr-FR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br>
              <a:rPr lang="fr-FR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fr-FR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Procédure de sauvegarde &amp; restauration</a:t>
            </a:r>
            <a:endParaRPr dirty="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 txBox="1">
            <a:spLocks noGrp="1"/>
          </p:cNvSpPr>
          <p:nvPr>
            <p:ph type="ftr" idx="11"/>
          </p:nvPr>
        </p:nvSpPr>
        <p:spPr>
          <a:xfrm>
            <a:off x="581191" y="5951811"/>
            <a:ext cx="9459279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fr-FR" sz="2000" dirty="0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Lucas Beneteau</a:t>
            </a:r>
            <a:endParaRPr sz="2000" dirty="0">
              <a:solidFill>
                <a:schemeClr val="accent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1" name="Google Shape;111;p1"/>
          <p:cNvSpPr txBox="1">
            <a:spLocks noGrp="1"/>
          </p:cNvSpPr>
          <p:nvPr>
            <p:ph type="sldNum" idx="12"/>
          </p:nvPr>
        </p:nvSpPr>
        <p:spPr>
          <a:xfrm>
            <a:off x="10040471" y="5956137"/>
            <a:ext cx="153427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fr-FR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Août 2025</a:t>
            </a:r>
            <a:endParaRPr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1EBA6A51-DE90-78C5-0073-D7566ECBAE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6">
            <a:extLst>
              <a:ext uri="{FF2B5EF4-FFF2-40B4-BE49-F238E27FC236}">
                <a16:creationId xmlns:a16="http://schemas.microsoft.com/office/drawing/2014/main" id="{421C1536-B9E8-5516-E1BA-5A00D3F6F63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558299" y="6321261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fld id="{00000000-1234-1234-1234-123412341234}" type="slidenum">
              <a:rPr lang="fr-FR" sz="2200"/>
              <a:t>2</a:t>
            </a:fld>
            <a:endParaRPr sz="2200" dirty="0"/>
          </a:p>
        </p:txBody>
      </p:sp>
      <p:sp>
        <p:nvSpPr>
          <p:cNvPr id="474" name="Google Shape;474;p16">
            <a:extLst>
              <a:ext uri="{FF2B5EF4-FFF2-40B4-BE49-F238E27FC236}">
                <a16:creationId xmlns:a16="http://schemas.microsoft.com/office/drawing/2014/main" id="{A15C6ADB-A843-8FD1-5210-819E6F4B4158}"/>
              </a:ext>
            </a:extLst>
          </p:cNvPr>
          <p:cNvSpPr txBox="1"/>
          <p:nvPr/>
        </p:nvSpPr>
        <p:spPr>
          <a:xfrm>
            <a:off x="581191" y="792460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fr-FR" sz="28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Schéma des flux</a:t>
            </a:r>
            <a:endParaRPr sz="2800" b="0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9DE07CFD-3D9B-1695-03C9-FA7C79209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7893" y="1928278"/>
            <a:ext cx="5709792" cy="4929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5810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B9E50C2D-B6ED-3FA6-2C72-D12BF4505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6">
            <a:extLst>
              <a:ext uri="{FF2B5EF4-FFF2-40B4-BE49-F238E27FC236}">
                <a16:creationId xmlns:a16="http://schemas.microsoft.com/office/drawing/2014/main" id="{7A6157D9-2766-88A5-602A-136306CC8E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1" y="2299948"/>
            <a:ext cx="11029615" cy="3527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72644" indent="0">
              <a:spcBef>
                <a:spcPts val="0"/>
              </a:spcBef>
              <a:buSzPts val="2456"/>
              <a:buNone/>
            </a:pPr>
            <a:endParaRPr lang="fr-FR" sz="2000" u="sng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29844" indent="-457200">
              <a:spcBef>
                <a:spcPts val="0"/>
              </a:spcBef>
              <a:buSzPts val="2456"/>
              <a:buFont typeface="Noto Sans Symbols"/>
              <a:buChar char="⮚"/>
            </a:pPr>
            <a:endParaRPr lang="fr-FR" sz="2400" u="sng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3" name="Google Shape;473;p16">
            <a:extLst>
              <a:ext uri="{FF2B5EF4-FFF2-40B4-BE49-F238E27FC236}">
                <a16:creationId xmlns:a16="http://schemas.microsoft.com/office/drawing/2014/main" id="{C620C101-F3DF-1219-FEE8-FC136C8743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558299" y="6321261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fld id="{00000000-1234-1234-1234-123412341234}" type="slidenum">
              <a:rPr lang="fr-FR" sz="2200"/>
              <a:t>3</a:t>
            </a:fld>
            <a:endParaRPr sz="2200" dirty="0"/>
          </a:p>
        </p:txBody>
      </p:sp>
      <p:sp>
        <p:nvSpPr>
          <p:cNvPr id="474" name="Google Shape;474;p16">
            <a:extLst>
              <a:ext uri="{FF2B5EF4-FFF2-40B4-BE49-F238E27FC236}">
                <a16:creationId xmlns:a16="http://schemas.microsoft.com/office/drawing/2014/main" id="{E6EB2AF2-1462-7894-9E8C-EB23A87561C4}"/>
              </a:ext>
            </a:extLst>
          </p:cNvPr>
          <p:cNvSpPr txBox="1"/>
          <p:nvPr/>
        </p:nvSpPr>
        <p:spPr>
          <a:xfrm>
            <a:off x="581191" y="759803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fr-FR" sz="28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Stratégies de sauvegarde</a:t>
            </a:r>
            <a:endParaRPr sz="2800" b="0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472;p16">
            <a:extLst>
              <a:ext uri="{FF2B5EF4-FFF2-40B4-BE49-F238E27FC236}">
                <a16:creationId xmlns:a16="http://schemas.microsoft.com/office/drawing/2014/main" id="{B40DDC26-A2A7-026E-F3B8-9228AEB60FA8}"/>
              </a:ext>
            </a:extLst>
          </p:cNvPr>
          <p:cNvSpPr txBox="1">
            <a:spLocks/>
          </p:cNvSpPr>
          <p:nvPr/>
        </p:nvSpPr>
        <p:spPr>
          <a:xfrm>
            <a:off x="559418" y="1944208"/>
            <a:ext cx="11029615" cy="3527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33756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529844" indent="-457200">
              <a:spcBef>
                <a:spcPts val="0"/>
              </a:spcBef>
              <a:buSzPts val="2456"/>
              <a:buFont typeface="Noto Sans Symbols"/>
              <a:buChar char="⮚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L’objectif est de définir et tester deux stratégies de sauvegarde distinctes, afin de choisir la plus adaptée à l’infrastructure de la mairie et garantir la sécurité des données et la capacité de restauration.</a:t>
            </a:r>
          </a:p>
          <a:p>
            <a:pPr marL="72644" indent="0">
              <a:spcBef>
                <a:spcPts val="0"/>
              </a:spcBef>
              <a:buSzPts val="2456"/>
              <a:buNone/>
            </a:pPr>
            <a:endParaRPr lang="fr-FR" sz="2000" b="1" u="sng" dirty="0">
              <a:latin typeface="Times New Roman" panose="02020603050405020304" pitchFamily="18" charset="0"/>
              <a:ea typeface="Times New Roman"/>
              <a:cs typeface="Times New Roman" panose="02020603050405020304" pitchFamily="18" charset="0"/>
              <a:sym typeface="Times New Roman"/>
            </a:endParaRPr>
          </a:p>
          <a:p>
            <a:pPr marL="987044" lvl="1" indent="-457200">
              <a:spcBef>
                <a:spcPts val="0"/>
              </a:spcBef>
              <a:buSzPts val="2456"/>
              <a:buFont typeface="Noto Sans Symbols"/>
              <a:buChar char="⮚"/>
            </a:pP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Stratégie 1 : 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Sauvegarder les données relatives à chaque machine virtuelle de manière incrémentale (ex. : fichiers utilisateurs, répertoires RH, source site web).</a:t>
            </a:r>
            <a:endParaRPr lang="fr-F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87044" lvl="1" indent="-457200">
              <a:spcBef>
                <a:spcPts val="0"/>
              </a:spcBef>
              <a:buSzPts val="2456"/>
              <a:buFont typeface="Noto Sans Symbols"/>
              <a:buChar char="⮚"/>
            </a:pP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Stratégie 2 : 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Sauvegarder directement les machines virtuelles entières de manière différentielle.</a:t>
            </a:r>
          </a:p>
        </p:txBody>
      </p:sp>
      <p:sp>
        <p:nvSpPr>
          <p:cNvPr id="9" name="Google Shape;472;p16">
            <a:extLst>
              <a:ext uri="{FF2B5EF4-FFF2-40B4-BE49-F238E27FC236}">
                <a16:creationId xmlns:a16="http://schemas.microsoft.com/office/drawing/2014/main" id="{826743CA-19FF-6A60-D0A6-4516C76CA40D}"/>
              </a:ext>
            </a:extLst>
          </p:cNvPr>
          <p:cNvSpPr txBox="1">
            <a:spLocks/>
          </p:cNvSpPr>
          <p:nvPr/>
        </p:nvSpPr>
        <p:spPr>
          <a:xfrm>
            <a:off x="570305" y="5388291"/>
            <a:ext cx="11029615" cy="1074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33756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72644" indent="0">
              <a:spcBef>
                <a:spcPts val="0"/>
              </a:spcBef>
              <a:buSzPts val="2456"/>
              <a:buNone/>
            </a:pPr>
            <a:br>
              <a:rPr lang="fr-FR" sz="19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fr-FR" sz="19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026516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AB70D16E-A6D5-41B7-B8C8-76029BDA0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6">
            <a:extLst>
              <a:ext uri="{FF2B5EF4-FFF2-40B4-BE49-F238E27FC236}">
                <a16:creationId xmlns:a16="http://schemas.microsoft.com/office/drawing/2014/main" id="{2B526BFF-2167-6FCC-009F-A65CFBBB64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81191" y="2299948"/>
            <a:ext cx="11029615" cy="3527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72644" indent="0">
              <a:spcBef>
                <a:spcPts val="0"/>
              </a:spcBef>
              <a:buSzPts val="2456"/>
              <a:buNone/>
            </a:pPr>
            <a:endParaRPr lang="fr-FR" sz="2000" u="sng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29844" indent="-457200">
              <a:spcBef>
                <a:spcPts val="0"/>
              </a:spcBef>
              <a:buSzPts val="2456"/>
              <a:buFont typeface="Noto Sans Symbols"/>
              <a:buChar char="⮚"/>
            </a:pPr>
            <a:endParaRPr lang="fr-FR" sz="2400" u="sng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3" name="Google Shape;473;p16">
            <a:extLst>
              <a:ext uri="{FF2B5EF4-FFF2-40B4-BE49-F238E27FC236}">
                <a16:creationId xmlns:a16="http://schemas.microsoft.com/office/drawing/2014/main" id="{35AA5CF2-12FC-C170-77FA-B3963737C318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558299" y="6321261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fld id="{00000000-1234-1234-1234-123412341234}" type="slidenum">
              <a:rPr lang="fr-FR" sz="2200"/>
              <a:t>4</a:t>
            </a:fld>
            <a:endParaRPr sz="2200" dirty="0"/>
          </a:p>
        </p:txBody>
      </p:sp>
      <p:sp>
        <p:nvSpPr>
          <p:cNvPr id="474" name="Google Shape;474;p16">
            <a:extLst>
              <a:ext uri="{FF2B5EF4-FFF2-40B4-BE49-F238E27FC236}">
                <a16:creationId xmlns:a16="http://schemas.microsoft.com/office/drawing/2014/main" id="{415F18F0-E0E6-D7B0-1C94-1B01C2CA16B3}"/>
              </a:ext>
            </a:extLst>
          </p:cNvPr>
          <p:cNvSpPr txBox="1"/>
          <p:nvPr/>
        </p:nvSpPr>
        <p:spPr>
          <a:xfrm>
            <a:off x="612317" y="732476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fr-FR" sz="28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Stratégie 1:</a:t>
            </a:r>
            <a:endParaRPr sz="2800" b="0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472;p16">
            <a:extLst>
              <a:ext uri="{FF2B5EF4-FFF2-40B4-BE49-F238E27FC236}">
                <a16:creationId xmlns:a16="http://schemas.microsoft.com/office/drawing/2014/main" id="{E05691A8-FD3F-D29F-D399-BFCFF16111BA}"/>
              </a:ext>
            </a:extLst>
          </p:cNvPr>
          <p:cNvSpPr txBox="1">
            <a:spLocks/>
          </p:cNvSpPr>
          <p:nvPr/>
        </p:nvSpPr>
        <p:spPr>
          <a:xfrm>
            <a:off x="559418" y="1944209"/>
            <a:ext cx="11029615" cy="1445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33756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529844" indent="-457200">
              <a:spcBef>
                <a:spcPts val="0"/>
              </a:spcBef>
              <a:buSzPts val="2456"/>
              <a:buFont typeface="Noto Sans Symbols"/>
              <a:buChar char="⮚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Sauvegarde complète le dimanche et incrémentale du lundi au samedi.</a:t>
            </a:r>
          </a:p>
          <a:p>
            <a:pPr marL="529844" indent="-457200">
              <a:spcBef>
                <a:spcPts val="0"/>
              </a:spcBef>
              <a:buSzPts val="2456"/>
              <a:buFont typeface="Noto Sans Symbols"/>
              <a:buChar char="⮚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Conservation des sauvegardes de la semaine n-1,2.. pendant X jours en fonction du type de données</a:t>
            </a:r>
          </a:p>
        </p:txBody>
      </p:sp>
      <p:sp>
        <p:nvSpPr>
          <p:cNvPr id="9" name="Google Shape;472;p16">
            <a:extLst>
              <a:ext uri="{FF2B5EF4-FFF2-40B4-BE49-F238E27FC236}">
                <a16:creationId xmlns:a16="http://schemas.microsoft.com/office/drawing/2014/main" id="{BC31B565-A266-3C2F-F899-7B29DA41D370}"/>
              </a:ext>
            </a:extLst>
          </p:cNvPr>
          <p:cNvSpPr txBox="1">
            <a:spLocks/>
          </p:cNvSpPr>
          <p:nvPr/>
        </p:nvSpPr>
        <p:spPr>
          <a:xfrm>
            <a:off x="570305" y="5388291"/>
            <a:ext cx="11029615" cy="1074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33756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72644" indent="0">
              <a:spcBef>
                <a:spcPts val="0"/>
              </a:spcBef>
              <a:buSzPts val="2456"/>
              <a:buNone/>
            </a:pPr>
            <a:br>
              <a:rPr lang="fr-FR" sz="19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fr-FR" sz="19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4CC7E394-9F74-7CB5-E7BD-BB11B2220C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2343123"/>
              </p:ext>
            </p:extLst>
          </p:nvPr>
        </p:nvGraphicFramePr>
        <p:xfrm>
          <a:off x="581191" y="3468258"/>
          <a:ext cx="10934704" cy="2617662"/>
        </p:xfrm>
        <a:graphic>
          <a:graphicData uri="http://schemas.openxmlformats.org/drawingml/2006/table">
            <a:tbl>
              <a:tblPr>
                <a:tableStyleId>{0DCC6616-E1B8-4DAE-94FC-05E1BC26A7A1}</a:tableStyleId>
              </a:tblPr>
              <a:tblGrid>
                <a:gridCol w="1899736">
                  <a:extLst>
                    <a:ext uri="{9D8B030D-6E8A-4147-A177-3AD203B41FA5}">
                      <a16:colId xmlns:a16="http://schemas.microsoft.com/office/drawing/2014/main" val="469389153"/>
                    </a:ext>
                  </a:extLst>
                </a:gridCol>
                <a:gridCol w="2647664">
                  <a:extLst>
                    <a:ext uri="{9D8B030D-6E8A-4147-A177-3AD203B41FA5}">
                      <a16:colId xmlns:a16="http://schemas.microsoft.com/office/drawing/2014/main" val="2407387760"/>
                    </a:ext>
                  </a:extLst>
                </a:gridCol>
                <a:gridCol w="1690317">
                  <a:extLst>
                    <a:ext uri="{9D8B030D-6E8A-4147-A177-3AD203B41FA5}">
                      <a16:colId xmlns:a16="http://schemas.microsoft.com/office/drawing/2014/main" val="2864276840"/>
                    </a:ext>
                  </a:extLst>
                </a:gridCol>
                <a:gridCol w="2617748">
                  <a:extLst>
                    <a:ext uri="{9D8B030D-6E8A-4147-A177-3AD203B41FA5}">
                      <a16:colId xmlns:a16="http://schemas.microsoft.com/office/drawing/2014/main" val="790406503"/>
                    </a:ext>
                  </a:extLst>
                </a:gridCol>
                <a:gridCol w="2079239">
                  <a:extLst>
                    <a:ext uri="{9D8B030D-6E8A-4147-A177-3AD203B41FA5}">
                      <a16:colId xmlns:a16="http://schemas.microsoft.com/office/drawing/2014/main" val="3953959929"/>
                    </a:ext>
                  </a:extLst>
                </a:gridCol>
              </a:tblGrid>
              <a:tr h="436277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Type de données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u="none" strike="noStrike" dirty="0">
                          <a:effectLst/>
                        </a:rPr>
                        <a:t>Fréquence de changement</a:t>
                      </a:r>
                      <a:endParaRPr lang="fr-FR" sz="1100" b="1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Importance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Fréquence de sauvegarde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Conservation X jours 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918060894"/>
                  </a:ext>
                </a:extLst>
              </a:tr>
              <a:tr h="43627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Sources Site Web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Faible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 dirty="0">
                          <a:effectLst/>
                        </a:rPr>
                        <a:t>Haute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 dirty="0">
                          <a:effectLst/>
                        </a:rPr>
                        <a:t>1× / jour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 dirty="0">
                          <a:effectLst/>
                        </a:rPr>
                        <a:t>21 jours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3438341817"/>
                  </a:ext>
                </a:extLst>
              </a:tr>
              <a:tr h="43627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Fichiers partagés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Fréquent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 dirty="0">
                          <a:effectLst/>
                        </a:rPr>
                        <a:t>Moyenne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1× / jour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 dirty="0">
                          <a:effectLst/>
                        </a:rPr>
                        <a:t>14 jours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878384768"/>
                  </a:ext>
                </a:extLst>
              </a:tr>
              <a:tr h="43627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RH / Compta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Modéré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 dirty="0">
                          <a:effectLst/>
                        </a:rPr>
                        <a:t>Critique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1× / jour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 dirty="0">
                          <a:effectLst/>
                        </a:rPr>
                        <a:t>28 jours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666655622"/>
                  </a:ext>
                </a:extLst>
              </a:tr>
              <a:tr h="43627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Tickets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Fréquent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Moyenne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1x /  jour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 dirty="0">
                          <a:effectLst/>
                        </a:rPr>
                        <a:t>14 jours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2160810302"/>
                  </a:ext>
                </a:extLst>
              </a:tr>
              <a:tr h="43627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Mails</a:t>
                      </a:r>
                      <a:endParaRPr lang="fr-FR" sz="1100" b="1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Fréquent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Moyenne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>
                          <a:effectLst/>
                        </a:rPr>
                        <a:t>1× / jour</a:t>
                      </a:r>
                      <a:endParaRPr lang="fr-FR" sz="1100" b="0" i="0" u="none" strike="noStrike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620" marR="7620" marT="7620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fr-FR" sz="1100" u="none" strike="noStrike" dirty="0">
                          <a:effectLst/>
                        </a:rPr>
                        <a:t>14 jours</a:t>
                      </a:r>
                      <a:endParaRPr lang="fr-FR" sz="1100" b="0" i="0" u="none" strike="noStrike" dirty="0">
                        <a:solidFill>
                          <a:srgbClr val="000000"/>
                        </a:solidFill>
                        <a:effectLst/>
                        <a:latin typeface="Verdana" panose="020B0604030504040204" pitchFamily="34" charset="0"/>
                      </a:endParaRPr>
                    </a:p>
                  </a:txBody>
                  <a:tcPr marL="7620" marR="7620" marT="7620" marB="0" anchor="ctr"/>
                </a:tc>
                <a:extLst>
                  <a:ext uri="{0D108BD9-81ED-4DB2-BD59-A6C34878D82A}">
                    <a16:rowId xmlns:a16="http://schemas.microsoft.com/office/drawing/2014/main" val="11786806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2150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D99F3D91-D9D3-1211-991B-0431919F3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16">
            <a:extLst>
              <a:ext uri="{FF2B5EF4-FFF2-40B4-BE49-F238E27FC236}">
                <a16:creationId xmlns:a16="http://schemas.microsoft.com/office/drawing/2014/main" id="{1FE5E05D-1775-C20F-7E91-11419EE3065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10558299" y="6321261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fld id="{00000000-1234-1234-1234-123412341234}" type="slidenum">
              <a:rPr lang="fr-FR" sz="2200"/>
              <a:t>5</a:t>
            </a:fld>
            <a:endParaRPr sz="2200" dirty="0"/>
          </a:p>
        </p:txBody>
      </p:sp>
      <p:sp>
        <p:nvSpPr>
          <p:cNvPr id="474" name="Google Shape;474;p16">
            <a:extLst>
              <a:ext uri="{FF2B5EF4-FFF2-40B4-BE49-F238E27FC236}">
                <a16:creationId xmlns:a16="http://schemas.microsoft.com/office/drawing/2014/main" id="{1239B6AE-7C5D-69B4-EE69-26436185A3D5}"/>
              </a:ext>
            </a:extLst>
          </p:cNvPr>
          <p:cNvSpPr txBox="1"/>
          <p:nvPr/>
        </p:nvSpPr>
        <p:spPr>
          <a:xfrm>
            <a:off x="612317" y="732476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fr-FR" sz="28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Stratégie 2:</a:t>
            </a:r>
            <a:endParaRPr sz="2800" b="0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472;p16">
            <a:extLst>
              <a:ext uri="{FF2B5EF4-FFF2-40B4-BE49-F238E27FC236}">
                <a16:creationId xmlns:a16="http://schemas.microsoft.com/office/drawing/2014/main" id="{F141A1AE-C668-23A2-3580-7A89ACDADE61}"/>
              </a:ext>
            </a:extLst>
          </p:cNvPr>
          <p:cNvSpPr txBox="1">
            <a:spLocks/>
          </p:cNvSpPr>
          <p:nvPr/>
        </p:nvSpPr>
        <p:spPr>
          <a:xfrm>
            <a:off x="809789" y="1983466"/>
            <a:ext cx="11029615" cy="1445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33756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529844" indent="-457200">
              <a:spcBef>
                <a:spcPts val="0"/>
              </a:spcBef>
              <a:buSzPts val="2456"/>
              <a:buFont typeface="Noto Sans Symbols"/>
              <a:buChar char="⮚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Sauvegarde complète le dimanche et différentiel du lundi au samedi.</a:t>
            </a:r>
          </a:p>
          <a:p>
            <a:pPr marL="529844" indent="-457200">
              <a:spcBef>
                <a:spcPts val="0"/>
              </a:spcBef>
              <a:buSzPts val="2456"/>
              <a:buFont typeface="Noto Sans Symbols"/>
              <a:buChar char="⮚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ne garde qu’une seule version différentielle remplaçant la n-1.</a:t>
            </a:r>
          </a:p>
          <a:p>
            <a:pPr marL="529844" indent="-457200">
              <a:spcBef>
                <a:spcPts val="0"/>
              </a:spcBef>
              <a:buSzPts val="2456"/>
              <a:buFont typeface="Noto Sans Symbols"/>
              <a:buChar char="⮚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Reprise sur coupure.</a:t>
            </a:r>
          </a:p>
        </p:txBody>
      </p:sp>
      <p:sp>
        <p:nvSpPr>
          <p:cNvPr id="9" name="Google Shape;472;p16">
            <a:extLst>
              <a:ext uri="{FF2B5EF4-FFF2-40B4-BE49-F238E27FC236}">
                <a16:creationId xmlns:a16="http://schemas.microsoft.com/office/drawing/2014/main" id="{AEB6221F-DCF0-7A91-2388-226EC79E620C}"/>
              </a:ext>
            </a:extLst>
          </p:cNvPr>
          <p:cNvSpPr txBox="1">
            <a:spLocks/>
          </p:cNvSpPr>
          <p:nvPr/>
        </p:nvSpPr>
        <p:spPr>
          <a:xfrm>
            <a:off x="570305" y="5388291"/>
            <a:ext cx="11029615" cy="1074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33756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72644" indent="0">
              <a:spcBef>
                <a:spcPts val="0"/>
              </a:spcBef>
              <a:buSzPts val="2456"/>
              <a:buNone/>
            </a:pPr>
            <a:br>
              <a:rPr lang="fr-FR" sz="19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fr-FR" sz="19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E9C7426F-6308-7E02-FA16-E65C1C7F4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0761" y="3290638"/>
            <a:ext cx="6866215" cy="2834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839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8EFB9B0-1487-3528-BF28-CC8D70080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492301"/>
            <a:ext cx="11029616" cy="1013800"/>
          </a:xfrm>
        </p:spPr>
        <p:txBody>
          <a:bodyPr/>
          <a:lstStyle/>
          <a:p>
            <a:r>
              <a:rPr lang="fr-FR" dirty="0"/>
              <a:t>Options rsync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465E106-DAE5-E160-541D-2F54EABFA8E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6</a:t>
            </a:fld>
            <a:endParaRPr lang="fr-FR"/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64C014B8-9DFB-7ED3-4483-B0444C73E4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1561" y="1957977"/>
            <a:ext cx="9857797" cy="643637"/>
          </a:xfrm>
          <a:prstGeom prst="rect">
            <a:avLst/>
          </a:prstGeom>
        </p:spPr>
      </p:pic>
      <p:sp>
        <p:nvSpPr>
          <p:cNvPr id="11" name="Google Shape;472;p16">
            <a:extLst>
              <a:ext uri="{FF2B5EF4-FFF2-40B4-BE49-F238E27FC236}">
                <a16:creationId xmlns:a16="http://schemas.microsoft.com/office/drawing/2014/main" id="{7A883CBD-2523-E752-EDCF-6262F8EB41FC}"/>
              </a:ext>
            </a:extLst>
          </p:cNvPr>
          <p:cNvSpPr txBox="1">
            <a:spLocks/>
          </p:cNvSpPr>
          <p:nvPr/>
        </p:nvSpPr>
        <p:spPr>
          <a:xfrm>
            <a:off x="831561" y="4459949"/>
            <a:ext cx="11029615" cy="1950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33756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529844" indent="-457200">
              <a:spcBef>
                <a:spcPts val="0"/>
              </a:spcBef>
              <a:buSzPts val="2456"/>
              <a:buFont typeface="Noto Sans Symbols"/>
              <a:buChar char="⮚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préserve permissions, timestamps, liens symboliques...</a:t>
            </a:r>
          </a:p>
          <a:p>
            <a:pPr marL="529844" indent="-457200">
              <a:spcBef>
                <a:spcPts val="0"/>
              </a:spcBef>
              <a:buSzPts val="2456"/>
              <a:buFont typeface="Noto Sans Symbols"/>
              <a:buChar char="⮚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mode verbeux.</a:t>
            </a:r>
          </a:p>
          <a:p>
            <a:pPr marL="529844" indent="-457200">
              <a:spcBef>
                <a:spcPts val="0"/>
              </a:spcBef>
              <a:buSzPts val="2456"/>
              <a:buFont typeface="Noto Sans Symbols"/>
              <a:buChar char="⮚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mkpath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crée les dossiers de destinations si inexistants.</a:t>
            </a:r>
          </a:p>
          <a:p>
            <a:pPr marL="529844" indent="-457200">
              <a:spcBef>
                <a:spcPts val="0"/>
              </a:spcBef>
              <a:buSzPts val="2456"/>
              <a:buFont typeface="Noto Sans Symbols"/>
              <a:buChar char="⮚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chmod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appliquer les droits à la création.</a:t>
            </a:r>
          </a:p>
          <a:p>
            <a:pPr marL="529844" indent="-457200">
              <a:spcBef>
                <a:spcPts val="0"/>
              </a:spcBef>
              <a:buSzPts val="2456"/>
              <a:buFont typeface="Noto Sans Symbols"/>
              <a:buChar char="⮚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log-file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écrire des logs dans un fichier.</a:t>
            </a:r>
          </a:p>
          <a:p>
            <a:pPr marL="529844" indent="-457200">
              <a:spcBef>
                <a:spcPts val="0"/>
              </a:spcBef>
              <a:buSzPts val="2456"/>
              <a:buFont typeface="Noto Sans Symbols"/>
              <a:buChar char="⮚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link-dest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gérer les sauvegardes incrémentales avec liens durs.</a:t>
            </a:r>
          </a:p>
          <a:p>
            <a:pPr marL="529844" indent="-457200">
              <a:spcBef>
                <a:spcPts val="0"/>
              </a:spcBef>
              <a:buSzPts val="2456"/>
              <a:buFont typeface="Noto Sans Symbols"/>
              <a:buChar char="⮚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--</a:t>
            </a:r>
            <a:r>
              <a:rPr lang="fr-FR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partial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  <a:r>
              <a:rPr lang="fr-FR" sz="20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inplace</a:t>
            </a: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permettre la reprise en cas de coupure</a:t>
            </a:r>
          </a:p>
          <a:p>
            <a:pPr marL="529844" indent="-457200">
              <a:spcBef>
                <a:spcPts val="0"/>
              </a:spcBef>
              <a:buSzPts val="2456"/>
              <a:buFont typeface="Noto Sans Symbols"/>
              <a:buChar char="⮚"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9844" indent="-457200">
              <a:spcBef>
                <a:spcPts val="0"/>
              </a:spcBef>
              <a:buSzPts val="2456"/>
              <a:buFont typeface="Noto Sans Symbols"/>
              <a:buChar char="⮚"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9844" indent="-457200">
              <a:spcBef>
                <a:spcPts val="0"/>
              </a:spcBef>
              <a:buSzPts val="2456"/>
              <a:buFont typeface="Noto Sans Symbols"/>
              <a:buChar char="⮚"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28F1E6ED-0F8D-A5FE-2FF7-9DABD1C522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1561" y="2763169"/>
            <a:ext cx="9100036" cy="857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9431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16"/>
          <p:cNvSpPr txBox="1">
            <a:spLocks noGrp="1"/>
          </p:cNvSpPr>
          <p:nvPr>
            <p:ph type="body" idx="1"/>
          </p:nvPr>
        </p:nvSpPr>
        <p:spPr>
          <a:xfrm>
            <a:off x="581191" y="2299948"/>
            <a:ext cx="11029615" cy="3527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72644" indent="0">
              <a:spcBef>
                <a:spcPts val="0"/>
              </a:spcBef>
              <a:buSzPts val="2456"/>
              <a:buNone/>
            </a:pPr>
            <a:endParaRPr lang="fr-FR" sz="2000" u="sng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529844" indent="-457200">
              <a:spcBef>
                <a:spcPts val="0"/>
              </a:spcBef>
              <a:buSzPts val="2456"/>
              <a:buFont typeface="Noto Sans Symbols"/>
              <a:buChar char="⮚"/>
            </a:pPr>
            <a:endParaRPr lang="fr-FR" sz="2400" u="sng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3" name="Google Shape;473;p16"/>
          <p:cNvSpPr txBox="1">
            <a:spLocks noGrp="1"/>
          </p:cNvSpPr>
          <p:nvPr>
            <p:ph type="sldNum" idx="12"/>
          </p:nvPr>
        </p:nvSpPr>
        <p:spPr>
          <a:xfrm>
            <a:off x="10558299" y="6321261"/>
            <a:ext cx="1052508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fld id="{00000000-1234-1234-1234-123412341234}" type="slidenum">
              <a:rPr lang="fr-FR" sz="2200"/>
              <a:t>7</a:t>
            </a:fld>
            <a:endParaRPr sz="2200" dirty="0"/>
          </a:p>
        </p:txBody>
      </p:sp>
      <p:sp>
        <p:nvSpPr>
          <p:cNvPr id="474" name="Google Shape;474;p16"/>
          <p:cNvSpPr txBox="1"/>
          <p:nvPr/>
        </p:nvSpPr>
        <p:spPr>
          <a:xfrm>
            <a:off x="581191" y="759803"/>
            <a:ext cx="11029616" cy="988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Gill Sans"/>
              <a:buNone/>
            </a:pPr>
            <a:r>
              <a:rPr lang="fr-FR" sz="2800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Simulation d’un </a:t>
            </a:r>
            <a:r>
              <a:rPr lang="fr-FR" sz="2800" b="0" i="0" u="none" strike="noStrike" cap="none" dirty="0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incident</a:t>
            </a:r>
            <a:endParaRPr sz="2800" b="0" i="0" u="none" strike="noStrike" cap="none" dirty="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Google Shape;472;p16">
            <a:extLst>
              <a:ext uri="{FF2B5EF4-FFF2-40B4-BE49-F238E27FC236}">
                <a16:creationId xmlns:a16="http://schemas.microsoft.com/office/drawing/2014/main" id="{3B986ADF-D739-E778-E9A2-B1E3895F9C24}"/>
              </a:ext>
            </a:extLst>
          </p:cNvPr>
          <p:cNvSpPr txBox="1">
            <a:spLocks/>
          </p:cNvSpPr>
          <p:nvPr/>
        </p:nvSpPr>
        <p:spPr>
          <a:xfrm>
            <a:off x="592077" y="2045267"/>
            <a:ext cx="11029615" cy="663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33756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529844" indent="-457200">
              <a:spcBef>
                <a:spcPts val="0"/>
              </a:spcBef>
              <a:buSzPts val="2456"/>
              <a:buFont typeface="Noto Sans Symbols"/>
              <a:buChar char="⮚"/>
            </a:pPr>
            <a:r>
              <a:rPr lang="fr-FR" sz="1900" dirty="0">
                <a:latin typeface="Times New Roman"/>
                <a:ea typeface="Times New Roman"/>
                <a:cs typeface="Times New Roman"/>
                <a:sym typeface="Times New Roman"/>
              </a:rPr>
              <a:t>Prenons une machine virtuelle ou sont stockés les données « RH » et supposons que le dossier de bulletin de paie ait été supprimé par erreur:</a:t>
            </a:r>
            <a:br>
              <a:rPr lang="fr-FR" sz="19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fr-FR" sz="19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85019C3D-DE38-99C7-09CC-00EA7A93DA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2831" y="2698832"/>
            <a:ext cx="2210108" cy="2514951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17F5C8B5-F60A-2405-4642-988B0E4CCD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4582" y="2883715"/>
            <a:ext cx="2855110" cy="2178252"/>
          </a:xfrm>
          <a:prstGeom prst="rect">
            <a:avLst/>
          </a:prstGeom>
        </p:spPr>
      </p:pic>
      <p:sp>
        <p:nvSpPr>
          <p:cNvPr id="9" name="Google Shape;472;p16">
            <a:extLst>
              <a:ext uri="{FF2B5EF4-FFF2-40B4-BE49-F238E27FC236}">
                <a16:creationId xmlns:a16="http://schemas.microsoft.com/office/drawing/2014/main" id="{32DD3325-0E20-E111-D377-EAC3ECDBA0A0}"/>
              </a:ext>
            </a:extLst>
          </p:cNvPr>
          <p:cNvSpPr txBox="1">
            <a:spLocks/>
          </p:cNvSpPr>
          <p:nvPr/>
        </p:nvSpPr>
        <p:spPr>
          <a:xfrm>
            <a:off x="570305" y="5388291"/>
            <a:ext cx="11029615" cy="10746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33756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72644" indent="0">
              <a:spcBef>
                <a:spcPts val="0"/>
              </a:spcBef>
              <a:buSzPts val="2456"/>
              <a:buNone/>
            </a:pPr>
            <a:br>
              <a:rPr lang="fr-FR" sz="1900" dirty="0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lang="fr-FR" sz="19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92396-C5FF-23A8-E471-BE83A2780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115259-B1D7-8C7C-F18A-5C611A92E0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492301"/>
            <a:ext cx="11029616" cy="1013800"/>
          </a:xfrm>
        </p:spPr>
        <p:txBody>
          <a:bodyPr/>
          <a:lstStyle/>
          <a:p>
            <a:r>
              <a:rPr lang="fr-FR" dirty="0"/>
              <a:t>Procédure de restauration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B3A9A03A-C3C0-45F7-C95C-D4B5195221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FR" smtClean="0"/>
              <a:t>8</a:t>
            </a:fld>
            <a:endParaRPr lang="fr-FR"/>
          </a:p>
        </p:txBody>
      </p:sp>
      <p:sp>
        <p:nvSpPr>
          <p:cNvPr id="5" name="Google Shape;472;p16">
            <a:extLst>
              <a:ext uri="{FF2B5EF4-FFF2-40B4-BE49-F238E27FC236}">
                <a16:creationId xmlns:a16="http://schemas.microsoft.com/office/drawing/2014/main" id="{27B82DF8-6F46-4CF4-F22E-54E7FBCB2513}"/>
              </a:ext>
            </a:extLst>
          </p:cNvPr>
          <p:cNvSpPr txBox="1">
            <a:spLocks/>
          </p:cNvSpPr>
          <p:nvPr/>
        </p:nvSpPr>
        <p:spPr>
          <a:xfrm>
            <a:off x="664540" y="2429780"/>
            <a:ext cx="11029615" cy="14455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33756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8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1pPr>
            <a:lvl2pPr marL="914400" marR="0" lvl="1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6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2pPr>
            <a:lvl3pPr marL="1371600" marR="0" lvl="2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4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3pPr>
            <a:lvl4pPr marL="1828800" marR="0" lvl="3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4pPr>
            <a:lvl5pPr marL="2286000" marR="0" lvl="4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5pPr>
            <a:lvl6pPr marL="2743200" marR="0" lvl="5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6pPr>
            <a:lvl7pPr marL="3200400" marR="0" lvl="6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7pPr>
            <a:lvl8pPr marL="3657600" marR="0" lvl="7" indent="-333756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8pPr>
            <a:lvl9pPr marL="4114800" marR="0" lvl="8" indent="-333756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2"/>
              </a:buClr>
              <a:buSzPts val="1656"/>
              <a:buFont typeface="Noto Sans Symbols"/>
              <a:buChar char="◼"/>
              <a:defRPr sz="1200" b="0" i="0" u="none" strike="noStrike" cap="none">
                <a:solidFill>
                  <a:schemeClr val="dk2"/>
                </a:solidFill>
                <a:latin typeface="Gill Sans"/>
                <a:ea typeface="Gill Sans"/>
                <a:cs typeface="Gill Sans"/>
                <a:sym typeface="Gill Sans"/>
              </a:defRPr>
            </a:lvl9pPr>
          </a:lstStyle>
          <a:p>
            <a:pPr marL="529844" indent="-457200">
              <a:spcBef>
                <a:spcPts val="0"/>
              </a:spcBef>
              <a:buSzPts val="2456"/>
              <a:buFont typeface="Noto Sans Symbols"/>
              <a:buChar char="⮚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Script: l’utilisateur choisit le chemin à restaurer.</a:t>
            </a:r>
          </a:p>
          <a:p>
            <a:pPr marL="987044" lvl="1" indent="-457200">
              <a:spcBef>
                <a:spcPts val="0"/>
              </a:spcBef>
              <a:buSzPts val="2456"/>
              <a:buFont typeface="Noto Sans Symbols"/>
              <a:buChar char="⮚"/>
            </a:pPr>
            <a:r>
              <a:rPr lang="fr-F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Exemple: (</a:t>
            </a:r>
            <a:r>
              <a:rPr lang="fr-FR" alt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/RH/</a:t>
            </a:r>
            <a:r>
              <a:rPr lang="fr-FR" altLang="fr-F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dimanche_COMPLETE</a:t>
            </a:r>
            <a:r>
              <a:rPr lang="fr-FR" alt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/Bulletins_de_paie).</a:t>
            </a:r>
            <a:endParaRPr lang="fr-FR" alt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9844" indent="-457200">
              <a:spcBef>
                <a:spcPts val="0"/>
              </a:spcBef>
              <a:buSzPts val="2456"/>
              <a:buFont typeface="Noto Sans Symbols"/>
              <a:buChar char="⮚"/>
            </a:pPr>
            <a:r>
              <a:rPr lang="fr-FR" alt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Une simulation dry-run est effectuée.</a:t>
            </a:r>
          </a:p>
          <a:p>
            <a:pPr marL="529844" indent="-457200">
              <a:spcBef>
                <a:spcPts val="0"/>
              </a:spcBef>
              <a:buSzPts val="2456"/>
              <a:buFont typeface="Noto Sans Symbols"/>
              <a:buChar char="⮚"/>
            </a:pPr>
            <a:r>
              <a:rPr lang="fr-FR" alt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L’utilisateur valide ou non.</a:t>
            </a:r>
          </a:p>
          <a:p>
            <a:pPr marL="529844" indent="-457200">
              <a:spcBef>
                <a:spcPts val="0"/>
              </a:spcBef>
              <a:buSzPts val="2456"/>
              <a:buFont typeface="Noto Sans Symbols"/>
              <a:buChar char="⮚"/>
            </a:pPr>
            <a:r>
              <a:rPr lang="fr-FR" altLang="fr-F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 validé, Rsync restaure à partir du chemin demandé.</a:t>
            </a:r>
          </a:p>
          <a:p>
            <a:pPr marL="987044" lvl="1" indent="-457200">
              <a:spcBef>
                <a:spcPts val="0"/>
              </a:spcBef>
              <a:buSzPts val="2456"/>
              <a:buFont typeface="Noto Sans Symbols"/>
              <a:buChar char="⮚"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29844" indent="-457200">
              <a:spcBef>
                <a:spcPts val="0"/>
              </a:spcBef>
              <a:buSzPts val="2456"/>
              <a:buFont typeface="Noto Sans Symbols"/>
              <a:buChar char="⮚"/>
            </a:pPr>
            <a:endParaRPr lang="fr-F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27040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l"/>
      </p:transition>
    </mc:Choice>
    <mc:Fallback xmlns="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5="http://schemas.microsoft.com/office/powerpoint/2012/main" xmlns:ahyp="http://schemas.microsoft.com/office/drawing/2018/hyperlinkcolor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ividende">
  <a:themeElements>
    <a:clrScheme name="Dividend">
      <a:dk1>
        <a:srgbClr val="000000"/>
      </a:dk1>
      <a:lt1>
        <a:srgbClr val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7044</TotalTime>
  <Words>392</Words>
  <Application>Microsoft Office PowerPoint</Application>
  <PresentationFormat>Grand écran</PresentationFormat>
  <Paragraphs>87</Paragraphs>
  <Slides>8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15" baseType="lpstr">
      <vt:lpstr>Calibri</vt:lpstr>
      <vt:lpstr>Arial</vt:lpstr>
      <vt:lpstr>Times New Roman</vt:lpstr>
      <vt:lpstr>Gill Sans</vt:lpstr>
      <vt:lpstr>Verdana</vt:lpstr>
      <vt:lpstr>Noto Sans Symbols</vt:lpstr>
      <vt:lpstr>Dividende</vt:lpstr>
      <vt:lpstr>PRÉSENTATION  Procédure de sauvegarde &amp; restauration</vt:lpstr>
      <vt:lpstr>Présentation PowerPoint</vt:lpstr>
      <vt:lpstr>Présentation PowerPoint</vt:lpstr>
      <vt:lpstr>Présentation PowerPoint</vt:lpstr>
      <vt:lpstr>Présentation PowerPoint</vt:lpstr>
      <vt:lpstr>Options rsync</vt:lpstr>
      <vt:lpstr>Présentation PowerPoint</vt:lpstr>
      <vt:lpstr>Procédure de restauration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Simon</dc:creator>
  <cp:lastModifiedBy>lucas beneteau</cp:lastModifiedBy>
  <cp:revision>21</cp:revision>
  <dcterms:created xsi:type="dcterms:W3CDTF">2020-12-01T13:50:14Z</dcterms:created>
  <dcterms:modified xsi:type="dcterms:W3CDTF">2025-08-24T17:39:38Z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